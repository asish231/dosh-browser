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CFCA41-7221-4674-B144-DCA2F1B7582E}">
  <a:tblStyle styleId="{DACFCA41-7221-4674-B144-DCA2F1B75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>
                <a:solidFill>
                  <a:srgbClr val="FFFFFF"/>
                </a:solidFill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>
                <a:solidFill>
                  <a:srgbClr val="FFFFFF"/>
                </a:solidFill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2114821"/>
            <a:ext cx="103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Greater Noida  |  Department of Computer Science &amp; Engineering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2715775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B.TECH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YEAR M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PROJECT  ·  BC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C351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280160" y="3200400"/>
            <a:ext cx="9628632" cy="1371600"/>
          </a:xfrm>
          <a:prstGeom prst="roundRect">
            <a:avLst>
              <a:gd fmla="val 800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>
                <a:solidFill>
                  <a:srgbClr val="FFFFFF"/>
                </a:solidFill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sz="2600" b="1">
                <a:solidFill>
                  <a:srgbClr val="FFFFFF"/>
                </a:solidFill>
                <a:latin typeface="Calibri"/>
              </a:rPr>
              <a:t>DOSH BROWSER:
AN LLM-NATIVE WEB BROWSER FOR AI AGENTS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300"/>
              <a:buFont typeface="Calibri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Presentation – I   |   Session 2026–27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6094476" y="5257800"/>
            <a:ext cx="0" cy="118872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914400" y="5303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GUIDE NAME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14400" y="55778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lIns="45720" spcFirstLastPara="1" rIns="45720" wrap="square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Mr. Kanchan Dipu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14400" y="59893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lIns="45720" spcFirstLastPara="1" rIns="45720" wrap="square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sz="1400" b="0">
                <a:solidFill>
                  <a:srgbClr val="FFFFFF"/>
                </a:solidFill>
                <a:latin typeface="Calibri"/>
              </a:rPr>
              <a:t>Assistant Professor, DBMS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316451" y="5303525"/>
            <a:ext cx="402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316451" y="5577850"/>
            <a:ext cx="4022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lIns="45720" spcFirstLastPara="1" rIns="45720" wrap="square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sz="1400" b="0">
                <a:solidFill>
                  <a:srgbClr val="FFFFFF"/>
                </a:solidFill>
                <a:latin typeface="Calibri"/>
              </a:rPr>
              <a:t>Asish Kumar Sharma
Roll No. 2401531720008
Sec: CSE (Cyber)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 title="LLOYD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1563" y="424800"/>
            <a:ext cx="1005835" cy="9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Presentation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1440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1440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3619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1440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1440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3619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1440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1440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3619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4400" y="357530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914400" y="35753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536192" y="355701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30936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30936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93115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System Workflow /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30936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30936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93115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Expected Outcome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30936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30936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93115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lIns="45720" spcFirstLastPara="1" rIns="45720" wrap="square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BCC351  ·  B.TECH SECOND YEAR MINI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SECOND YEAR MINI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051560" y="1554480"/>
            <a:ext cx="31546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HEAVYWEIGHT AUTOMATION</a:t>
            </a:r>
          </a:p>
          <a:p>
            <a:pPr>
              <a:defRPr sz="1300" b="1">
                <a:solidFill>
                  <a:srgbClr val="21295C"/>
                </a:solidFill>
                <a:latin typeface="Calibri"/>
              </a:defRPr>
            </a:pPr>
            <a:r>
              <a:t>Full Browser Overhead</a:t>
            </a:r>
          </a:p>
          <a:p>
            <a:pPr>
              <a:spcAft>
                <a:spcPts val="800"/>
              </a:spcAft>
              <a:defRPr sz="1000" i="1">
                <a:solidFill>
                  <a:srgbClr val="556075"/>
                </a:solidFill>
                <a:latin typeface="Calibri"/>
              </a:defRPr>
            </a:pPr>
            <a:r>
              <a:t>Playwright, Puppeteer, Selenium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150MB+ binary footprint per runtime instance.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High CPU and RAM consumption (hundreds of MBs per tab).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Returns raw DOMs and screenshots that overwhelm LLM context windows.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Cold boot latency (1–3s) slows down agent decision cycles.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26280" y="1554480"/>
            <a:ext cx="31546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STATIC SCRAPING LIMITS</a:t>
            </a:r>
          </a:p>
          <a:p>
            <a:pPr>
              <a:defRPr sz="1300" b="1">
                <a:solidFill>
                  <a:srgbClr val="21295C"/>
                </a:solidFill>
                <a:latin typeface="Calibri"/>
              </a:defRPr>
            </a:pPr>
            <a:r>
              <a:t>Fragile Plain Scrapers</a:t>
            </a:r>
          </a:p>
          <a:p>
            <a:pPr>
              <a:spcAft>
                <a:spcPts val="800"/>
              </a:spcAft>
              <a:defRPr sz="1000" i="1">
                <a:solidFill>
                  <a:srgbClr val="556075"/>
                </a:solidFill>
                <a:latin typeface="Calibri"/>
              </a:defRPr>
            </a:pPr>
            <a:r>
              <a:t>BeautifulSoup, Requests, Scrapy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Lightweight but cannot execute client-side JavaScript.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Modern web relies on SPAs (React, Next.js, Vue) and dynamic hydration.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Misses dynamically rendered data, returning blank pages.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Cannot handle dynamic client routing or interactive forms.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01000" y="1554480"/>
            <a:ext cx="31546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BOT DETECTION &amp; TOKENS</a:t>
            </a:r>
          </a:p>
          <a:p>
            <a:pPr>
              <a:defRPr sz="1300" b="1">
                <a:solidFill>
                  <a:srgbClr val="21295C"/>
                </a:solidFill>
                <a:latin typeface="Calibri"/>
              </a:defRPr>
            </a:pPr>
            <a:r>
              <a:t>WAF Blocks &amp; Token Waste</a:t>
            </a:r>
          </a:p>
          <a:p>
            <a:pPr>
              <a:spcAft>
                <a:spcPts val="800"/>
              </a:spcAft>
              <a:defRPr sz="1000" i="1">
                <a:solidFill>
                  <a:srgbClr val="556075"/>
                </a:solidFill>
                <a:latin typeface="Calibri"/>
              </a:defRPr>
            </a:pPr>
            <a:r>
              <a:t>Cloudflare, DataDome &amp; Context Cost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Automation frameworks leak CDP &amp; Webdriver flags, triggering instant WAF blocks.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Raw HTML dumps waste 70–90% of prompt tokens on CSS, scripts, and chrome.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Lack of session persistence and cookie isolation.</a:t>
            </a:r>
          </a:p>
          <a:p>
            <a:pPr>
              <a:spcAft>
                <a:spcPts val="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• No structured, content-addressed action surface for LLM tools.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51560" y="4846320"/>
            <a:ext cx="10104120" cy="1371600"/>
          </a:xfrm>
          <a:prstGeom prst="roundRect">
            <a:avLst/>
          </a:prstGeom>
          <a:solidFill>
            <a:srgbClr val="EBF3F8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spcAft>
                <a:spcPts val="300"/>
              </a:spcAft>
              <a:defRPr sz="1100" b="1">
                <a:solidFill>
                  <a:srgbClr val="1C7293"/>
                </a:solidFill>
                <a:latin typeface="Calibri"/>
              </a:defRPr>
            </a:pPr>
            <a:r>
              <a:t>THE PROPOSED SOLUTION: DOSH BROWSER</a:t>
            </a:r>
          </a:p>
          <a:p>
            <a:pPr>
              <a:lnSpc>
                <a:spcPct val="115000"/>
              </a:lnSpc>
              <a:defRPr sz="1150">
                <a:solidFill>
                  <a:srgbClr val="151515"/>
                </a:solidFill>
                <a:latin typeface="Calibri"/>
              </a:defRPr>
            </a:pPr>
            <a:r>
              <a:t>A purpose-built, LLM-native headless browser combining HTTP/2 fetch with Chrome TLS impersonation, an embedded QuickJS engine executing a custom mini-DOM for client-side JavaScript, and a compiler that transforms live pages into compact, token-efficient Agent Context Documents (ACD) with actionable stable refs.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lIns="45720" spcFirstLastPara="1" rIns="45720" wrap="square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051560" y="1600200"/>
            <a:ext cx="4892040" cy="210312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0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280160" y="19202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lIns="45720" spcFirstLastPara="1" rIns="45720" wrap="square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263640" y="1600200"/>
            <a:ext cx="4892040" cy="210312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0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492240" y="19202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lIns="45720" spcFirstLastPara="1" rIns="45720" wrap="square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051560" y="3977639"/>
            <a:ext cx="4892040" cy="210312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0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280160" y="4297679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lIns="45720" spcFirstLastPara="1" rIns="45720" wrap="square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263640" y="3977639"/>
            <a:ext cx="4892040" cy="210312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0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492240" y="4297679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lIns="45720" spcFirstLastPara="1" rIns="45720" wrap="square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SECOND YEAR MINI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2286000" y="1783080"/>
            <a:ext cx="3474720" cy="1737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Independent Lightweight Browser Engine</a:t>
            </a:r>
          </a:p>
          <a:p>
            <a:pPr>
              <a:lnSpc>
                <a:spcPct val="115000"/>
              </a:lnSpc>
              <a:defRPr sz="1050">
                <a:solidFill>
                  <a:srgbClr val="151515"/>
                </a:solidFill>
                <a:latin typeface="Calibri"/>
              </a:defRPr>
            </a:pPr>
            <a:r>
              <a:t>Build a from-scratch headless browser engine independent of Chromium, Playwright, and CDP, using HTTP/2 fetch, QuickJS C-runtime, and an in-house mini-DOM to eliminate browser bloat.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98079" y="1783080"/>
            <a:ext cx="3474720" cy="1737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Agent-Native Tool Interface &amp; Projections</a:t>
            </a:r>
          </a:p>
          <a:p>
            <a:pPr>
              <a:lnSpc>
                <a:spcPct val="115000"/>
              </a:lnSpc>
              <a:defRPr sz="1050">
                <a:solidFill>
                  <a:srgbClr val="151515"/>
                </a:solidFill>
                <a:latin typeface="Calibri"/>
              </a:defRPr>
            </a:pPr>
            <a:r>
              <a:t>Expose search, navigate, click, type, and inspect tools via JSON Schema across REST API, CLI, Python SDK, and MCP, compiling pages into structured Agent Context Documents (ACD).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86000" y="4160520"/>
            <a:ext cx="3474720" cy="1737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Multi-Step Stateful Navigation &amp; JS Execution</a:t>
            </a:r>
          </a:p>
          <a:p>
            <a:pPr>
              <a:lnSpc>
                <a:spcPct val="115000"/>
              </a:lnSpc>
              <a:defRPr sz="1050">
                <a:solidFill>
                  <a:srgbClr val="151515"/>
                </a:solidFill>
                <a:latin typeface="Calibri"/>
              </a:defRPr>
            </a:pPr>
            <a:r>
              <a:t>Maintain stateful browsing sessions with persistent cookies, multi-tab history, form submission validation, MutationObserver reactivity, and isolated iframe document contexts.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98079" y="4160520"/>
            <a:ext cx="3474720" cy="1737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Autonomous Agent Reliability &amp; Inspection</a:t>
            </a:r>
          </a:p>
          <a:p>
            <a:pPr>
              <a:lnSpc>
                <a:spcPct val="115000"/>
              </a:lnSpc>
              <a:defRPr sz="1050">
                <a:solidFill>
                  <a:srgbClr val="151515"/>
                </a:solidFill>
                <a:latin typeface="Calibri"/>
              </a:defRPr>
            </a:pPr>
            <a:r>
              <a:t>Implement an autonomous ReAct agent loop with automated search engine fallback (Google → DuckDuckGo), transparent WAF/CAPTCHA inspection, proxy rotation, and model fail-over.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34475" y="1543875"/>
            <a:ext cx="9849000" cy="4445400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SECOND YEAR MINI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914400" y="1828800"/>
            <a:ext cx="2240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CORE ENGINE</a:t>
            </a:r>
          </a:p>
          <a:p>
            <a:pPr>
              <a:spcAft>
                <a:spcPts val="3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Python 3.11</a:t>
            </a:r>
          </a:p>
          <a:p>
            <a:pPr>
              <a:defRPr sz="1000">
                <a:solidFill>
                  <a:srgbClr val="556075"/>
                </a:solidFill>
                <a:latin typeface="Calibri"/>
              </a:defRPr>
            </a:pPr>
            <a:r>
              <a:t>Asyncio Event Loop &amp; Concurrency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520440" y="1828800"/>
            <a:ext cx="2240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WEB SERVICE</a:t>
            </a:r>
          </a:p>
          <a:p>
            <a:pPr>
              <a:spcAft>
                <a:spcPts val="3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FastAPI + Uvicorn</a:t>
            </a:r>
          </a:p>
          <a:p>
            <a:pPr>
              <a:defRPr sz="1000">
                <a:solidFill>
                  <a:srgbClr val="556075"/>
                </a:solidFill>
                <a:latin typeface="Calibri"/>
              </a:defRPr>
            </a:pPr>
            <a:r>
              <a:t>OpenAPI Specification &amp; REST API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126480" y="1828800"/>
            <a:ext cx="2240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TRANSPORT &amp; TLS</a:t>
            </a:r>
          </a:p>
          <a:p>
            <a:pPr>
              <a:spcAft>
                <a:spcPts val="3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curl_cffi + httpx</a:t>
            </a:r>
          </a:p>
          <a:p>
            <a:pPr>
              <a:defRPr sz="1000">
                <a:solidFill>
                  <a:srgbClr val="556075"/>
                </a:solidFill>
                <a:latin typeface="Calibri"/>
              </a:defRPr>
            </a:pPr>
            <a:r>
              <a:t>Chrome TLS &amp; JA4 Impersonation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732520" y="1828800"/>
            <a:ext cx="2240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HTML5 PARSER</a:t>
            </a:r>
          </a:p>
          <a:p>
            <a:pPr>
              <a:spcAft>
                <a:spcPts val="3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selectolax + Lexbor</a:t>
            </a:r>
          </a:p>
          <a:p>
            <a:pPr>
              <a:defRPr sz="1000">
                <a:solidFill>
                  <a:srgbClr val="556075"/>
                </a:solidFill>
                <a:latin typeface="Calibri"/>
              </a:defRPr>
            </a:pPr>
            <a:r>
              <a:t>C-Level Tree Build (&lt;2ms per page)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14400" y="3703320"/>
            <a:ext cx="2240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JS RUNTIME</a:t>
            </a:r>
          </a:p>
          <a:p>
            <a:pPr>
              <a:spcAft>
                <a:spcPts val="3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QuickJS + Mini-DOM</a:t>
            </a:r>
          </a:p>
          <a:p>
            <a:pPr>
              <a:defRPr sz="1000">
                <a:solidFill>
                  <a:srgbClr val="556075"/>
                </a:solidFill>
                <a:latin typeface="Calibri"/>
              </a:defRPr>
            </a:pPr>
            <a:r>
              <a:t>In-House DOM, ESM Graph &amp; Observers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520440" y="3703320"/>
            <a:ext cx="2240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AI AGENT LOOP</a:t>
            </a:r>
          </a:p>
          <a:p>
            <a:pPr>
              <a:spcAft>
                <a:spcPts val="3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GLM-4.7 &amp; Mercury 2</a:t>
            </a:r>
          </a:p>
          <a:p>
            <a:pPr>
              <a:defRPr sz="1000">
                <a:solidFill>
                  <a:srgbClr val="556075"/>
                </a:solidFill>
                <a:latin typeface="Calibri"/>
              </a:defRPr>
            </a:pPr>
            <a:r>
              <a:t>ReAct Framework &amp; Provider Fail-over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126480" y="3703320"/>
            <a:ext cx="2240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DATA MODELS</a:t>
            </a:r>
          </a:p>
          <a:p>
            <a:pPr>
              <a:spcAft>
                <a:spcPts val="3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Pydantic v2</a:t>
            </a:r>
          </a:p>
          <a:p>
            <a:pPr>
              <a:defRPr sz="1000">
                <a:solidFill>
                  <a:srgbClr val="556075"/>
                </a:solidFill>
                <a:latin typeface="Calibri"/>
              </a:defRPr>
            </a:pPr>
            <a:r>
              <a:t>Strict JSON Schemas &amp; Validation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732520" y="3703320"/>
            <a:ext cx="2240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>
              <a:spcAft>
                <a:spcPts val="200"/>
              </a:spcAft>
              <a:defRPr sz="950" b="1">
                <a:solidFill>
                  <a:srgbClr val="1C7293"/>
                </a:solidFill>
                <a:latin typeface="Calibri"/>
              </a:defRPr>
            </a:pPr>
            <a:r>
              <a:t>AGENT PROTOCOLS</a:t>
            </a:r>
          </a:p>
          <a:p>
            <a:pPr>
              <a:spcAft>
                <a:spcPts val="3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MCP + CLI + SDK</a:t>
            </a:r>
          </a:p>
          <a:p>
            <a:pPr>
              <a:defRPr sz="1000">
                <a:solidFill>
                  <a:srgbClr val="556075"/>
                </a:solidFill>
                <a:latin typeface="Calibri"/>
              </a:defRPr>
            </a:pPr>
            <a:r>
              <a:t>Model Context Protocol JSON-RPC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Literature Survey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SECOND YEAR MINI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777240" y="1508760"/>
          <a:ext cx="106070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011680"/>
                <a:gridCol w="2240280"/>
                <a:gridCol w="5760720"/>
              </a:tblGrid>
              <a:tr h="850392">
                <a:tc>
                  <a:txBody>
                    <a:bodyPr wrap="square" lIns="109728" rIns="109728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21295C"/>
                    </a:solidFill>
                  </a:tcPr>
                </a:tc>
                <a:tc>
                  <a:txBody>
                    <a:bodyPr wrap="square" lIns="109728" rIns="109728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/ System</a:t>
                      </a:r>
                    </a:p>
                  </a:txBody>
                  <a:tcPr>
                    <a:solidFill>
                      <a:srgbClr val="21295C"/>
                    </a:solidFill>
                  </a:tcPr>
                </a:tc>
                <a:tc>
                  <a:txBody>
                    <a:bodyPr wrap="square" lIns="109728" rIns="109728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Author(s) / Year</a:t>
                      </a:r>
                    </a:p>
                  </a:txBody>
                  <a:tcPr>
                    <a:solidFill>
                      <a:srgbClr val="21295C"/>
                    </a:solidFill>
                  </a:tcPr>
                </a:tc>
                <a:tc>
                  <a:txBody>
                    <a:bodyPr wrap="square" lIns="109728" rIns="109728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 &amp; Relevance to DOSH Browser</a:t>
                      </a:r>
                    </a:p>
                  </a:txBody>
                  <a:tcPr>
                    <a:solidFill>
                      <a:srgbClr val="21295C"/>
                    </a:solidFill>
                  </a:tcPr>
                </a:tc>
              </a:tr>
              <a:tr h="850392">
                <a:tc>
                  <a:txBody>
                    <a:bodyPr wrap="square" lIns="109728" rIns="109728" tIns="73152" bIns="73152"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WebGPT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Nakano et al. (2021)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Demonstrated that a simplified, text-only web environment enables effective long-form question answering and reduces cognitive overhead for LLMs.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 lIns="109728" rIns="109728" tIns="73152" bIns="73152"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0F4F8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WebShop</a:t>
                      </a:r>
                    </a:p>
                  </a:txBody>
                  <a:tcPr marL="45720" marR="45720" marT="27432" marB="27432">
                    <a:solidFill>
                      <a:srgbClr val="F0F4F8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Yao et al. (2022)</a:t>
                      </a:r>
                    </a:p>
                  </a:txBody>
                  <a:tcPr marL="45720" marR="45720" marT="27432" marB="27432">
                    <a:solidFill>
                      <a:srgbClr val="F0F4F8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Established that a constrained, structured action set with simplified text observations significantly outperforms raw web automation for AI agents.</a:t>
                      </a:r>
                    </a:p>
                  </a:txBody>
                  <a:tcPr marL="45720" marR="45720" marT="27432" marB="27432">
                    <a:solidFill>
                      <a:srgbClr val="F0F4F8"/>
                    </a:solidFill>
                  </a:tcPr>
                </a:tc>
              </a:tr>
              <a:tr h="850392">
                <a:tc>
                  <a:txBody>
                    <a:bodyPr wrap="square" lIns="109728" rIns="109728" tIns="73152" bIns="73152"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ReAct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Yao et al. (2023)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Pioneered the interleaved Reasoning–Action–Observation cycle. DOSH Browser implements this loop natively with tools tailored for LLMs.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 lIns="109728" rIns="109728" tIns="73152" bIns="73152"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27432" marB="27432">
                    <a:solidFill>
                      <a:srgbClr val="F0F4F8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 b="1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Mind2Web /</a:t>
                      </a:r>
                      <a:br/>
                      <a:r>
                        <a:t>WebArena</a:t>
                      </a:r>
                    </a:p>
                  </a:txBody>
                  <a:tcPr marL="45720" marR="45720" marT="27432" marB="27432">
                    <a:solidFill>
                      <a:srgbClr val="F0F4F8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Deng et al. (2023);</a:t>
                      </a:r>
                      <a:br/>
                      <a:r>
                        <a:t>Zhou et al. (2024)</a:t>
                      </a:r>
                    </a:p>
                  </a:txBody>
                  <a:tcPr marL="45720" marR="45720" marT="27432" marB="27432">
                    <a:solidFill>
                      <a:srgbClr val="F0F4F8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 algn="l">
                        <a:defRPr sz="1000">
                          <a:solidFill>
                            <a:srgbClr val="151515"/>
                          </a:solidFill>
                          <a:latin typeface="Calibri"/>
                        </a:defRPr>
                      </a:pPr>
                      <a:r>
                        <a:t>Highlighted the severe difficulty of real-world web complexity and the urgent necessity to strip HTML noise before passing data to language models.</a:t>
                      </a:r>
                    </a:p>
                  </a:txBody>
                  <a:tcPr marL="45720" marR="45720" marT="27432" marB="27432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33" name="Rounded Rectangle 132"/>
          <p:cNvSpPr/>
          <p:nvPr/>
        </p:nvSpPr>
        <p:spPr>
          <a:xfrm>
            <a:off x="777240" y="4846320"/>
            <a:ext cx="10607040" cy="1371600"/>
          </a:xfrm>
          <a:prstGeom prst="roundRect">
            <a:avLst/>
          </a:prstGeom>
          <a:solidFill>
            <a:srgbClr val="EBF3F8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300"/>
              </a:spcAft>
              <a:defRPr sz="1100" b="1">
                <a:solidFill>
                  <a:srgbClr val="1C7293"/>
                </a:solidFill>
                <a:latin typeface="Calibri"/>
              </a:defRPr>
            </a:pPr>
            <a:r>
              <a:t>RESEARCH GAP ADDRESSED BY DOSH BROWSER</a:t>
            </a:r>
          </a:p>
          <a:p>
            <a:pPr>
              <a:lnSpc>
                <a:spcPct val="115000"/>
              </a:lnSpc>
              <a:defRPr sz="1100">
                <a:solidFill>
                  <a:srgbClr val="151515"/>
                </a:solidFill>
                <a:latin typeface="Calibri"/>
              </a:defRPr>
            </a:pPr>
            <a:r>
              <a:t>Existing research forces a compromise between heavyweight Chromium engines (massive RAM, cold start delays, context overflow) and blind HTTP scrapers (incapable of executing modern client-side JavaScript). DOSH Browser bridges this gap by uniting lightweight HTTP transport, client-side JS execution in QuickJS, and token-optimized Agent Context Documents (ACD).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System Workflow /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SECOND YEAR MINI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1097280" y="1508760"/>
            <a:ext cx="43891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b="1" sz="1200">
                <a:solidFill>
                  <a:srgbClr val="21295C"/>
                </a:solidFill>
              </a:defRPr>
            </a:pPr>
            <a:r>
              <a:t>LLM Agent &amp; User Query</a:t>
            </a:r>
          </a:p>
          <a:p>
            <a:pPr>
              <a:defRPr sz="1000">
                <a:solidFill>
                  <a:srgbClr val="556075"/>
                </a:solidFill>
              </a:defRPr>
            </a:pPr>
            <a:r>
              <a:t>GLM-4.7 / Mercury 2 • Autonomous ReAct Loop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5623560" y="1783080"/>
            <a:ext cx="731520" cy="27432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6492240" y="1508760"/>
            <a:ext cx="4617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b="1" sz="1200">
                <a:solidFill>
                  <a:srgbClr val="21295C"/>
                </a:solidFill>
              </a:defRPr>
            </a:pPr>
            <a:r>
              <a:t>Tool Interface &amp; Dispatcher</a:t>
            </a:r>
          </a:p>
          <a:p>
            <a:pPr>
              <a:defRPr sz="1000">
                <a:solidFill>
                  <a:srgbClr val="556075"/>
                </a:solidFill>
              </a:defRPr>
            </a:pPr>
            <a:r>
              <a:t>JSON Schema • REST API • CLI • Python SDK • MCP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097280" y="2560320"/>
            <a:ext cx="10012680" cy="1508760"/>
          </a:xfrm>
          <a:prstGeom prst="roundRect">
            <a:avLst/>
          </a:prstGeom>
          <a:solidFill>
            <a:srgbClr val="FAFCFE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234440" y="2606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C7293"/>
                </a:solidFill>
              </a:defRPr>
            </a:pPr>
            <a:r>
              <a:t>CORE BROWSER PIPELINE (ZERO CHROMIUM DEPENDENCY)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280160" y="292608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100">
                <a:solidFill>
                  <a:srgbClr val="21295C"/>
                </a:solidFill>
              </a:defRPr>
            </a:pPr>
            <a:r>
              <a:t>HTTP/2 Transport</a:t>
            </a:r>
          </a:p>
          <a:p>
            <a:pPr>
              <a:defRPr sz="950">
                <a:solidFill>
                  <a:srgbClr val="556075"/>
                </a:solidFill>
              </a:defRPr>
            </a:pPr>
            <a:r>
              <a:t>curl_cffi + httpx</a:t>
            </a:r>
            <a:br/>
            <a:r>
              <a:t>Chrome TLS &amp; JA4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794760" y="292608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100">
                <a:solidFill>
                  <a:srgbClr val="21295C"/>
                </a:solidFill>
              </a:defRPr>
            </a:pPr>
            <a:r>
              <a:t>HTML5 Parser</a:t>
            </a:r>
          </a:p>
          <a:p>
            <a:pPr>
              <a:defRPr sz="950">
                <a:solidFill>
                  <a:srgbClr val="556075"/>
                </a:solidFill>
              </a:defRPr>
            </a:pPr>
            <a:r>
              <a:t>selectolax + Lexbor</a:t>
            </a:r>
            <a:br/>
            <a:r>
              <a:t>Fast C-Tree Parse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309360" y="292608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100">
                <a:solidFill>
                  <a:srgbClr val="21295C"/>
                </a:solidFill>
              </a:defRPr>
            </a:pPr>
            <a:r>
              <a:t>QuickJS Engine</a:t>
            </a:r>
          </a:p>
          <a:p>
            <a:pPr>
              <a:defRPr sz="950">
                <a:solidFill>
                  <a:srgbClr val="556075"/>
                </a:solidFill>
              </a:defRPr>
            </a:pPr>
            <a:r>
              <a:t>In-House Mini-DOM</a:t>
            </a:r>
            <a:br/>
            <a:r>
              <a:t>Reactivity &amp; ESM Graph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823960" y="292608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100">
                <a:solidFill>
                  <a:srgbClr val="21295C"/>
                </a:solidFill>
              </a:defRPr>
            </a:pPr>
            <a:r>
              <a:t>Session Manager</a:t>
            </a:r>
          </a:p>
          <a:p>
            <a:pPr>
              <a:defRPr sz="950">
                <a:solidFill>
                  <a:srgbClr val="556075"/>
                </a:solidFill>
              </a:defRPr>
            </a:pPr>
            <a:r>
              <a:t>Cookies, Multi-Tab,</a:t>
            </a:r>
            <a:br/>
            <a:r>
              <a:t>History &amp; Isolation</a:t>
            </a:r>
          </a:p>
        </p:txBody>
      </p:sp>
      <p:sp>
        <p:nvSpPr>
          <p:cNvPr id="156" name="Right Arrow 155"/>
          <p:cNvSpPr/>
          <p:nvPr/>
        </p:nvSpPr>
        <p:spPr>
          <a:xfrm>
            <a:off x="3474720" y="3291840"/>
            <a:ext cx="274320" cy="18288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ight Arrow 156"/>
          <p:cNvSpPr/>
          <p:nvPr/>
        </p:nvSpPr>
        <p:spPr>
          <a:xfrm>
            <a:off x="5989320" y="3291840"/>
            <a:ext cx="274320" cy="18288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ight Arrow 157"/>
          <p:cNvSpPr/>
          <p:nvPr/>
        </p:nvSpPr>
        <p:spPr>
          <a:xfrm>
            <a:off x="8503920" y="3291840"/>
            <a:ext cx="274320" cy="18288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097280" y="4251960"/>
            <a:ext cx="3063240" cy="1234440"/>
          </a:xfrm>
          <a:prstGeom prst="roundRect">
            <a:avLst/>
          </a:prstGeom>
          <a:solidFill>
            <a:srgbClr val="EBF3F8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300"/>
              </a:spcAft>
              <a:defRPr b="1" sz="1150">
                <a:solidFill>
                  <a:srgbClr val="21295C"/>
                </a:solidFill>
              </a:defRPr>
            </a:pPr>
            <a:r>
              <a:t>Zero-DOM Framework Data</a:t>
            </a:r>
          </a:p>
          <a:p>
            <a:pPr>
              <a:defRPr sz="1000">
                <a:solidFill>
                  <a:srgbClr val="151515"/>
                </a:solidFill>
              </a:defRPr>
            </a:pPr>
            <a:r>
              <a:t>Extracts __NEXT_DATA__, Nuxt, Redux &amp; JSON-LD schemas directly from JS context.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572000" y="4251960"/>
            <a:ext cx="3063240" cy="1234440"/>
          </a:xfrm>
          <a:prstGeom prst="roundRect">
            <a:avLst/>
          </a:prstGeom>
          <a:solidFill>
            <a:srgbClr val="EBF3F8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300"/>
              </a:spcAft>
              <a:defRPr b="1" sz="1150">
                <a:solidFill>
                  <a:srgbClr val="21295C"/>
                </a:solidFill>
              </a:defRPr>
            </a:pPr>
            <a:r>
              <a:t>Action Surface Compiler</a:t>
            </a:r>
          </a:p>
          <a:p>
            <a:pPr>
              <a:defRPr sz="1000">
                <a:solidFill>
                  <a:srgbClr val="151515"/>
                </a:solidFill>
              </a:defRPr>
            </a:pPr>
            <a:r>
              <a:t>Content-addressed stable refs [eN] for click, type, drag with explicit action kinds.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046720" y="4251960"/>
            <a:ext cx="3063240" cy="1234440"/>
          </a:xfrm>
          <a:prstGeom prst="roundRect">
            <a:avLst/>
          </a:prstGeom>
          <a:solidFill>
            <a:srgbClr val="EBF3F8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300"/>
              </a:spcAft>
              <a:defRPr b="1" sz="1150">
                <a:solidFill>
                  <a:srgbClr val="21295C"/>
                </a:solidFill>
              </a:defRPr>
            </a:pPr>
            <a:r>
              <a:t>Agent Context Document</a:t>
            </a:r>
          </a:p>
          <a:p>
            <a:pPr>
              <a:defRPr sz="1000">
                <a:solidFill>
                  <a:srgbClr val="151515"/>
                </a:solidFill>
              </a:defRPr>
            </a:pPr>
            <a:r>
              <a:t>Typed blocks (b1..bN) with slice and query APIs for token-efficient reasoning.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97280" y="5623560"/>
            <a:ext cx="10012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6075"/>
                </a:solidFill>
              </a:defRPr>
            </a:pPr>
            <a:r>
              <a:t>Note: Client scripts execute in isolated QuickJS sandboxes. CAPTCHA and WAF challenges are deeply inspected and reported to the agent, not bypassed.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Expected Outcome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051560" y="1600200"/>
            <a:ext cx="10104120" cy="96012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0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1325880" y="1874519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1325880" y="1874519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051560" y="2697480"/>
            <a:ext cx="10104120" cy="96012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0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1325880" y="297180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325880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051560" y="3794760"/>
            <a:ext cx="10104120" cy="96012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0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325880" y="406908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325880" y="4069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051560" y="4892040"/>
            <a:ext cx="10104120" cy="96012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0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1325880" y="5166359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1325880" y="5166359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SECOND YEAR MINI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965960" y="1709928"/>
            <a:ext cx="8961120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Independent Agent-Native Browser Engine</a:t>
            </a:r>
          </a:p>
          <a:p>
            <a:pPr>
              <a:lnSpc>
                <a:spcPct val="115000"/>
              </a:lnSpc>
              <a:defRPr sz="1050">
                <a:solidFill>
                  <a:srgbClr val="151515"/>
                </a:solidFill>
                <a:latin typeface="Calibri"/>
              </a:defRPr>
            </a:pPr>
            <a:r>
              <a:t>Functional headless browser with zero Chromium or Playwright dependency, exposed as a high-performance REST API (FastAPI), CLI tool, Python SDK, and Model Context Protocol (MCP) server.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965960" y="2807208"/>
            <a:ext cx="8961120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Token-Optimized Agent Projections (ACD)</a:t>
            </a:r>
          </a:p>
          <a:p>
            <a:pPr>
              <a:lnSpc>
                <a:spcPct val="115000"/>
              </a:lnSpc>
              <a:defRPr sz="1050">
                <a:solidFill>
                  <a:srgbClr val="151515"/>
                </a:solidFill>
                <a:latin typeface="Calibri"/>
              </a:defRPr>
            </a:pPr>
            <a:r>
              <a:t>Structured Agent Context Documents featuring content-addressed interactive element refs ([eN]), numbered links ([n]), and block-level retrieval (browser_query / browser_slice) to save 70–90% of LLM prompt tokens.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965960" y="3904488"/>
            <a:ext cx="8961120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Stateful Multi-Step Browsing &amp; JS Execution</a:t>
            </a:r>
          </a:p>
          <a:p>
            <a:pPr>
              <a:lnSpc>
                <a:spcPct val="115000"/>
              </a:lnSpc>
              <a:defRPr sz="1050">
                <a:solidFill>
                  <a:srgbClr val="151515"/>
                </a:solidFill>
                <a:latin typeface="Calibri"/>
              </a:defRPr>
            </a:pPr>
            <a:r>
              <a:t>Multi-tab browser sessions supporting persistent cookies, navigation history, client-side SPA routing, form submission validation with preventDefault, and isolated iframe execution contexts.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965960" y="5001768"/>
            <a:ext cx="8961120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1295C"/>
                </a:solidFill>
                <a:latin typeface="Calibri"/>
              </a:defRPr>
            </a:pPr>
            <a:r>
              <a:t>Autonomous Agent Reliability &amp; Inspection</a:t>
            </a:r>
          </a:p>
          <a:p>
            <a:pPr>
              <a:lnSpc>
                <a:spcPct val="115000"/>
              </a:lnSpc>
              <a:defRPr sz="1050">
                <a:solidFill>
                  <a:srgbClr val="151515"/>
                </a:solidFill>
                <a:latin typeface="Calibri"/>
              </a:defRPr>
            </a:pPr>
            <a:r>
              <a:t>Integrated ReAct agent loop supporting GLM-4.7-Flash and Mercury 2, automated search engine fail-over (Google → DuckDuckGo), proxy rotation, and transparent WAF/CAPTCHA inspection.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234440" y="1188720"/>
            <a:ext cx="96927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lIns="45720" spcFirstLastPara="1" rIns="45720" wrap="square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300"/>
              <a:buFont typeface="Calibri"/>
              <a:buNone/>
              <a:defRPr sz="1100" i="1">
                <a:solidFill>
                  <a:srgbClr val="556075"/>
                </a:solidFill>
              </a:defRPr>
            </a:pPr>
            <a:r>
              <a:rPr sz="1050" b="1">
                <a:solidFill>
                  <a:srgbClr val="21295C"/>
                </a:solidFill>
                <a:latin typeface="Calibri"/>
              </a:rPr>
              <a:t>Selected references from the project synopsis; formatted in IEEE-style presentation format.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SECOND YEAR MINI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Rounded Rectangle 190"/>
          <p:cNvSpPr/>
          <p:nvPr/>
        </p:nvSpPr>
        <p:spPr>
          <a:xfrm>
            <a:off x="1051560" y="1600200"/>
            <a:ext cx="48920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lnSpc>
                <a:spcPct val="115000"/>
              </a:lnSpc>
              <a:spcAft>
                <a:spcPts val="1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[1] Nakano, R., Hilton, J., Balaji, S., et al., "WebGPT: Browser-assisted Question-answering with Human Feedback," arXiv:2112.09332, 2021.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[2] Yao, S., Chen, H., Yang, J., and Narasimhan, K., "WebShop: Towards Scalable Real-World Web Interaction with Grounded Language Agents," NeurIPS, 2022.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[3] Yao, S., Zhao, J., Yu, D., et al., "ReAct: Synergizing Reasoning and Acting in Language Models," ICLR, 2023.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[4] Deng, X., Gu, Y., Zheng, B., et al., "Mind2Web: Towards a Generalist Agent for the Web," NeurIPS, 2023.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6263640" y="1600200"/>
            <a:ext cx="48920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lnSpc>
                <a:spcPct val="115000"/>
              </a:lnSpc>
              <a:spcAft>
                <a:spcPts val="1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[5] Zhou, S., Xu, F. F., Zhu, H., et al., "WebArena: A Realistic Web Environment for Building Autonomous Agents," ICLR, 2024.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[6] Bellard, F., "QuickJS JavaScript Engine," QuickJS Documentation, accessed September 2026.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[7] Ramírez, S., "FastAPI: High Performance Modern Python Web Framework," Documentation, accessed September 2026.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050">
                <a:solidFill>
                  <a:srgbClr val="151515"/>
                </a:solidFill>
                <a:latin typeface="Calibri"/>
              </a:defRPr>
            </a:pPr>
            <a:r>
              <a:t>[8] Sharma, A. K., "DOSH Browser: LLM-Native Headless Web Browser for AI Agents," Project Source Repository,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Questions &amp; suggestions are welcome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2"/>
          <p:cNvCxnSpPr/>
          <p:nvPr/>
        </p:nvCxnSpPr>
        <p:spPr>
          <a:xfrm>
            <a:off x="5271516" y="4160520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2"/>
          <p:cNvSpPr/>
          <p:nvPr/>
        </p:nvSpPr>
        <p:spPr>
          <a:xfrm>
            <a:off x="915925" y="4559880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Technology, Greater Noida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